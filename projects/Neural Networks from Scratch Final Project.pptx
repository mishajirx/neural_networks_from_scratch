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5" r:id="rId1"/>
  </p:sldMasterIdLst>
  <p:notesMasterIdLst>
    <p:notesMasterId r:id="rId25"/>
  </p:notesMasterIdLst>
  <p:sldIdLst>
    <p:sldId id="256" r:id="rId2"/>
    <p:sldId id="259" r:id="rId3"/>
    <p:sldId id="258" r:id="rId4"/>
    <p:sldId id="261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1" r:id="rId13"/>
    <p:sldId id="270" r:id="rId14"/>
    <p:sldId id="272" r:id="rId15"/>
    <p:sldId id="274" r:id="rId16"/>
    <p:sldId id="273" r:id="rId17"/>
    <p:sldId id="275" r:id="rId18"/>
    <p:sldId id="276" r:id="rId19"/>
    <p:sldId id="277" r:id="rId20"/>
    <p:sldId id="278" r:id="rId21"/>
    <p:sldId id="280" r:id="rId22"/>
    <p:sldId id="279" r:id="rId23"/>
    <p:sldId id="281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0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7320"/>
    <p:restoredTop sz="86395"/>
  </p:normalViewPr>
  <p:slideViewPr>
    <p:cSldViewPr snapToGrid="0">
      <p:cViewPr>
        <p:scale>
          <a:sx n="108" d="100"/>
          <a:sy n="108" d="100"/>
        </p:scale>
        <p:origin x="656" y="224"/>
      </p:cViewPr>
      <p:guideLst/>
    </p:cSldViewPr>
  </p:slideViewPr>
  <p:outlineViewPr>
    <p:cViewPr>
      <p:scale>
        <a:sx n="20" d="100"/>
        <a:sy n="2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120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458415-9433-C044-B4A1-B70788567FAD}" type="datetimeFigureOut">
              <a:rPr lang="en-US" smtClean="0"/>
              <a:t>1/15/26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603DED-BC2D-074C-98E7-A00976EDB9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164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603DED-BC2D-074C-98E7-A00976EDB9A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78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603DED-BC2D-074C-98E7-A00976EDB9A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715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603DED-BC2D-074C-98E7-A00976EDB9A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2658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603DED-BC2D-074C-98E7-A00976EDB9A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9387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4973A-75C4-853A-984B-E0436B183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AAE86E-F67F-EC14-C9C1-0298E15C81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A71F05-8156-627E-6D66-483BC73A97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E1F124-48E9-5E55-9FB7-6D38169DDB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603DED-BC2D-074C-98E7-A00976EDB9A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8055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3A838-746B-B825-9CC7-F4E0A0329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8174FF-AB34-9A5B-2D8A-2E36F84B2E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CFD682-82BB-15AE-9315-071CEA22D8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9BF192-A078-968F-9751-C26C635EF2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603DED-BC2D-074C-98E7-A00976EDB9A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1002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E75DB-CE5E-4CE7-E4EC-73A1CBE34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2A672A-379F-F844-9BF3-3C824371EC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AB7C1E-DBB8-0ABF-52D0-BAA6C18B67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1D5989-69F3-C359-7170-90223F70F4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603DED-BC2D-074C-98E7-A00976EDB9A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0762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77596-FDB7-5E36-0FE4-FAC38B4E1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FD2CE7-649A-C6AD-38AF-A5B5786A70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AF9EE6-5FE2-74C1-6767-6ECD6D9950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E22EE4-FB5E-5D8D-433D-7098B702BE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603DED-BC2D-074C-98E7-A00976EDB9A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6368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467E7-0B50-686A-7892-04AD3249A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CA20AC-FE3C-0A06-6AD3-2DAE4544CE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56CAAA-16FC-9972-C762-6B4D4B07A7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82C11E-3907-4C38-73B1-FB28C9F003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603DED-BC2D-074C-98E7-A00976EDB9A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8704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C2ACF-CEF4-1E53-8B5A-762555703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009AA1-BFE6-D498-3FB6-2D7150BF0E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BD6D56-23EB-068E-3067-B443F47707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702356-3969-2308-43C9-BF6DB87681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603DED-BC2D-074C-98E7-A00976EDB9A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2762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20C69-014A-74E4-9E3D-4C980605C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9113F2-8B9B-6863-87C9-4C498100EE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1D01E6-5563-73D0-71AF-371AE9D3B8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8A1CD0-0B1C-5117-3720-00F6CC1664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603DED-BC2D-074C-98E7-A00976EDB9A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6596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DB7A8-9A44-6503-A2ED-0A33CD6B7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2599FA-828A-3C4E-13B6-AC6360237E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989993-A257-D9D7-94F4-8B21E0541E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CDBC4-7760-9AD8-4BE3-03493A5BB9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603DED-BC2D-074C-98E7-A00976EDB9A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1798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0C09E-F85B-191B-CA81-DD7BFAE33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EAB820-49A1-8542-7692-0A7910177B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3AD743-986C-E0AF-8DC9-2256DDA5FC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1DBE6-FDBE-1EE7-0233-2A8A85460D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603DED-BC2D-074C-98E7-A00976EDB9A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7656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7BAFB-2F8C-A1FB-0CAF-EB0EBC71F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9AA2B7-4A7D-D7E6-9679-67C50586AA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E7DDB2-3703-494B-39D6-89F50C91DC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0649FE-3539-F006-6032-99A5940E5E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603DED-BC2D-074C-98E7-A00976EDB9A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8270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7A487-E156-DA7F-2ED5-22245C9E5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B27A6A-18FB-359C-3B79-E04AA1C76D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E9F37D-F7E8-B260-A202-2EED610AF8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B6E7E-AC1C-8205-5467-B317997649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603DED-BC2D-074C-98E7-A00976EDB9A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9247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2E068-9629-B2A3-DB75-F4A64D99A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E10A1E-4ABF-E4E4-7180-4D0CF8C800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B6855E-967C-FC31-4F7E-F250EBDD18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361FD3-9F2B-702B-5640-6798F9C318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603DED-BC2D-074C-98E7-A00976EDB9A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2366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1E1B1-4B94-62F1-E7D0-B25D848D6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49932B-F26C-49DD-EC85-264E29F38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B2C9A5-1B40-AEDC-4E6B-0ADC1DC615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4FA674-0F8B-7FE6-D3BE-80EBB98751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603DED-BC2D-074C-98E7-A00976EDB9A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1137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603DED-BC2D-074C-98E7-A00976EDB9A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710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22F66-727D-4150-ADA5-49CF3A0F68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2" y="1122363"/>
            <a:ext cx="10072922" cy="1978346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D9A1FE-C39F-4D7C-B93D-F8C203A1D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0352" y="3509963"/>
            <a:ext cx="10072922" cy="1747837"/>
          </a:xfrm>
        </p:spPr>
        <p:txBody>
          <a:bodyPr>
            <a:normAutofit/>
          </a:bodyPr>
          <a:lstStyle>
            <a:lvl1pPr marL="0" indent="0" algn="l">
              <a:buNone/>
              <a:defRPr sz="2000" i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08AAC-7D41-4304-8D59-EF34B23268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0352" y="136525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524C6359-9BB8-4148-8114-537E698DA205}" type="datetime1">
              <a:rPr lang="en-US" smtClean="0"/>
              <a:t>1/15/26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4D078-DE22-4F23-8B48-21FB1415C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4C1F5-608B-4335-9F2A-17F63D5FA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51B01909-73B8-4486-A749-C643B1D7E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26769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5E279D86-4533-45F1-B0AA-D237399A5ED5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764FD722-CB31-4326-ADD8-CBA52FD1FF59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24E4BCEC-8B0A-444E-8509-1B3BB0449E5B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9DB36622-1DC7-4B17-8984-588BA8999FF6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51B97AF0-1974-42B9-B5FC-A332C52E8272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95A298AD-BE5D-4BE1-8CDF-DBFB42D63FEB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29059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7B4A7-C566-48F4-B4B8-3A5E7B6C5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B93F5-BC8B-452C-ACE2-C7E01D1B8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A49B3-A57D-46C5-8462-0C52509F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0352" y="136525"/>
            <a:ext cx="2743200" cy="365125"/>
          </a:xfrm>
        </p:spPr>
        <p:txBody>
          <a:bodyPr/>
          <a:lstStyle/>
          <a:p>
            <a:fld id="{9376191F-481E-48E9-BB9A-369A67A7362D}" type="datetime1">
              <a:rPr lang="en-US" smtClean="0"/>
              <a:t>1/15/26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8C810-EAF4-4D86-84DD-2E574122D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7E738-8574-490B-974B-9AD3B2AAE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AC552FEA-472E-4E74-B31D-531852C19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10597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41DF3078-C636-4776-A616-D5BF3BC280C9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0D1A27FA-1310-4BC3-A071-1566746B2FB1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99ACB9EB-84FE-4B33-9EF9-4EC7DAC25DD5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826E5EFB-0EF9-4DB8-99CB-5DD72009DB2C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86238E12-0689-4123-8B2E-E1CCFCC4C882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8538CF67-A00E-4955-A447-001BE02E771A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93441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9764E-4B3D-4B6A-A210-B50E4F60E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10072922" cy="2313641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30AEC2-B6E6-4C09-A16F-5E2A1C9A0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3509963"/>
            <a:ext cx="10072922" cy="25796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37CAB-B545-4E42-BB5A-F1DAA9335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677DE-DD04-48CC-9C18-7BE9FF2DEB6B}" type="datetime1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D720B-7E58-43F4-9659-ADB2403A5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5F53F-2FA5-4B5C-A151-F07BBC00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37B4CDD2-E09A-418A-9131-FBDEE440A1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26769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8852E5FB-B268-4CCA-8E55-803038F7A00D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A1C9CBB3-97C0-4A35-9088-C69233F5CEE7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31610871-AEE9-46EB-9D27-BA1D9D688124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27478059-2A11-484D-A2D7-199F74778E50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30EC0886-DDB9-47F1-9414-C121C1D3F954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66A10427-DF20-4284-B215-EABA4D366E20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6515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473D3-0F03-4BF4-831F-34E80BAC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09409-59F2-486F-A6D0-FAEE8FFF25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717" y="2521885"/>
            <a:ext cx="4645152" cy="3655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087241-B390-47A6-8070-C3D4652F8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2136" y="2521885"/>
            <a:ext cx="4611138" cy="3655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80B360-2ACA-4B93-9439-591B6D3FB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255ED-7101-4D18-A8AE-3B5E4CB87EA5}" type="datetime1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A73E2-CF78-404C-A86F-E70A284AE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A8F42A-11E1-42A0-8ECF-A5BBA3B8C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id="{0CB61A83-9419-49FC-8074-2AB3D34FA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19637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id="{BCD12E57-97FB-48D8-81CC-7C37E8947CB4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id="{E487641C-E83B-4134-88C9-1D23D5FA1836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B99AB7A6-A88C-44E1-A9DE-4126B957F88A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9FF0D518-1D17-44C7-BF73-7C980481DB5B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9A7A3E12-61E8-41A0-A459-15BF375FA945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9E5E4A56-9100-4D60-8A34-0FE116F41FF1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33309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ECA31-EE14-41DD-9914-DA7138220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7"/>
            <a:ext cx="100729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22AB6-1657-4AE2-8607-2C77A25D7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2521884"/>
            <a:ext cx="4845387" cy="780439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AA6DC0-D4D5-4164-A3FD-6BB5CBB2B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0352" y="3366390"/>
            <a:ext cx="4845387" cy="264479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9B35F8-95F3-43D1-8917-5836BAA904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34025" y="2521884"/>
            <a:ext cx="4869249" cy="780439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B639E7-F4A3-4ADE-B290-0A4F9761B9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34025" y="3366390"/>
            <a:ext cx="4869249" cy="264479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6F296B-429F-4DFC-ABC3-0A078EA99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2F23D-51F6-4C94-8CD5-B9ABBF67EE23}" type="datetime1">
              <a:rPr lang="en-US" smtClean="0"/>
              <a:t>1/15/26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7103B9-D521-4910-AC15-F12F25CB9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73A6D9-123D-492C-B5CE-294EF255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152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92A22-4B4D-4F58-9783-A0469DA4D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8" y="787068"/>
            <a:ext cx="1007755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5EE610-5457-4E8C-B568-B8D560773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A702F-6367-4FD1-89A8-3744BE6BA9A2}" type="datetime1">
              <a:rPr lang="en-US" smtClean="0"/>
              <a:t>1/15/26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BA57BB-288A-4A30-A4EC-FF0537BC2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414C89-B968-4A85-A035-E2997A5F8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6" name="Graphic 78">
            <a:extLst>
              <a:ext uri="{FF2B5EF4-FFF2-40B4-BE49-F238E27FC236}">
                <a16:creationId xmlns:a16="http://schemas.microsoft.com/office/drawing/2014/main" id="{AC45ECC6-E29C-40EF-A7C9-5A17DAFD4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5233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7" name="Graphic 78">
              <a:extLst>
                <a:ext uri="{FF2B5EF4-FFF2-40B4-BE49-F238E27FC236}">
                  <a16:creationId xmlns:a16="http://schemas.microsoft.com/office/drawing/2014/main" id="{8DA0D497-8E8F-426A-8172-894BE03F70F6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aphic 78">
              <a:extLst>
                <a:ext uri="{FF2B5EF4-FFF2-40B4-BE49-F238E27FC236}">
                  <a16:creationId xmlns:a16="http://schemas.microsoft.com/office/drawing/2014/main" id="{8C0459EF-3B70-4083-8845-3A9AF847E805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9" name="Graphic 78">
                <a:extLst>
                  <a:ext uri="{FF2B5EF4-FFF2-40B4-BE49-F238E27FC236}">
                    <a16:creationId xmlns:a16="http://schemas.microsoft.com/office/drawing/2014/main" id="{53BF2B58-70F8-4288-85AB-CBDA723CDFCC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A569E551-A5A0-4A8F-B999-3A6D104814A2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0FB69EB5-D9AC-46E7-934E-32999C39B2E6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6EABC49A-B4ED-44E4-ADB7-E432734A7C96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17197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7A339C-4093-4B40-8C90-52F005CA9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E99BD-4B4F-4460-B452-0E8146ACCF8F}" type="datetime1">
              <a:rPr lang="en-US" smtClean="0"/>
              <a:t>1/15/26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A33F04-8E0A-4165-930C-527D781A7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62F57B-BEB6-4973-A362-38F638E0D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915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FAC90-C2CA-44DD-8EF8-20BDD672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4315386" cy="2223152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915FB-D5F4-4CAD-AE70-3644E8180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5420086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374DA3-3BAC-4045-825F-B3C27B897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352" y="3429000"/>
            <a:ext cx="4315386" cy="24399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A0D65-0423-4E45-947A-E08C8569F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FD34C-1867-42A9-AC54-D15ADD8A65E7}" type="datetime1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6FBD0-E49F-4DE6-9264-CEDB9BAA0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16B246-A768-4B2D-96C6-9F4178526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id="{839DB371-B90D-44CB-A4AF-C7BDBFD0A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19346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id="{0C845011-2FC2-40F7-B0C6-49CBBA72B9CB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id="{82BC78B8-5139-436F-AD47-3CC03903FDDC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F9DC17BA-1278-45C9-B1BF-B9F1518E1F29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99637B9F-CC26-4669-81F0-A942B4F72D61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2BB8F115-0030-47B4-BAF4-C15D1EA27B11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662F9949-4F1A-4708-824B-E876E9BEDA16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66350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CB0C8-915E-4BF2-976E-B8D7EDC59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3932237" cy="2223152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0714E6-8E50-4B50-A2E0-F9D20155EB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5420086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D67A6C-5CA5-4EF0-B1C4-ED85FF255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352" y="3429000"/>
            <a:ext cx="3932237" cy="243998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C76474-31D4-4567-B4EC-B6AF24488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133E9-A654-4C17-8C3C-DDCAC83D6EBF}" type="datetime1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902DE0-33F5-4372-8EB5-F5746D344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C5C2EF-849D-4B2C-8ED6-D2655365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id="{7627CBC2-9DC2-4EE8-A2D5-849E30F22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19346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id="{9FB4AEFC-63AB-4831-8EC1-E8145604D8D9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id="{811E1337-D5DA-408D-91F3-A6A35FCDD0B9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1E473FA4-FD80-4D04-AAC5-63B9A4D80778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FCB457B9-48DE-4921-8C3F-996598075B1F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53C9DB95-9A61-4553-8D82-D2BE26FCBC6E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0EAE371F-24C9-4738-834F-FAF5A5C9ACE1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17580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9F2C5-A3FC-44EF-BA15-CEC83C83D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5040D3-67DB-455C-AD79-49E185DB6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2B07A-258E-42DD-9A68-2C76F7D54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49BD0-10DB-43E7-8F22-40B3D51B8FC3}" type="datetime1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1E9BC-3BB8-40CD-9294-59A2E59E1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3979D-5589-4770-9D29-046F2B506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12EF7969-DB38-4989-A65C-9D190A245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33456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2145BE25-C437-45FE-A3D3-BBAAF108CC9B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4A9D0FA0-682C-4076-B779-D865AEEFC66C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AB60163C-1A2D-4F00-BC61-8A3C11E2D2BE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3FF8D873-9CF9-4A0A-A7B8-875C0B8233D6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2B645470-F624-4417-A8A4-FC242E43C9DB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ECC7EFEF-6B2A-4210-9275-0077ACF2827B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96836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6693CD-CB65-4F37-A6DA-F300B93C14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974374" y="787067"/>
            <a:ext cx="2628900" cy="53898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8D117-7AE6-4831-9867-5145F64A0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5719" y="787067"/>
            <a:ext cx="7039402" cy="538989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88CF8-397F-485E-8081-AFA4DADD4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6C79C-F566-427A-93F6-434A4E613134}" type="datetime1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E4773-4660-4F21-83CF-1A449395B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59537-EB47-40FA-893E-785D6FE00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588F505F-2957-41FC-9AAA-962853A67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7283627" y="125032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091A36EB-8545-4EFE-B619-165D36D644D1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8D075D29-6706-486B-A55A-13866882BA88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3FAE751A-10F0-48F2-BBC3-D2FE499B345B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52289CAF-683C-4BCC-8AA5-95A3BF799B0F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3BC8403A-C46F-4DA1-A015-00A80215F289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A797D957-3A2C-42DF-B73E-CBB47BE036B7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84919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5959F4-53DA-47FF-BC24-1E5B75C69876}"/>
              </a:ext>
            </a:extLst>
          </p:cNvPr>
          <p:cNvSpPr/>
          <p:nvPr/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7CF83E8-F6F0-41E3-B580-7412A04DDFB5}"/>
              </a:ext>
            </a:extLst>
          </p:cNvPr>
          <p:cNvGrpSpPr/>
          <p:nvPr/>
        </p:nvGrpSpPr>
        <p:grpSpPr>
          <a:xfrm>
            <a:off x="10776050" y="5204030"/>
            <a:ext cx="886141" cy="802497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A0B6DBB-705D-48D0-842C-F9DFA7684D19}"/>
                </a:ext>
              </a:extLst>
            </p:cNvPr>
            <p:cNvSpPr/>
            <p:nvPr/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194A764-16E1-4D0D-9357-76F80E6086C0}"/>
                </a:ext>
              </a:extLst>
            </p:cNvPr>
            <p:cNvSpPr/>
            <p:nvPr/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15B7F3F-A40D-4F24-8536-E2420B433211}"/>
                </a:ext>
              </a:extLst>
            </p:cNvPr>
            <p:cNvSpPr/>
            <p:nvPr/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4" name="Graphic 12">
              <a:extLst>
                <a:ext uri="{FF2B5EF4-FFF2-40B4-BE49-F238E27FC236}">
                  <a16:creationId xmlns:a16="http://schemas.microsoft.com/office/drawing/2014/main" id="{CEF42844-A829-4ED2-A360-63BB2A7C45EE}"/>
                </a:ext>
              </a:extLst>
            </p:cNvPr>
            <p:cNvSpPr/>
            <p:nvPr/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Graphic 15">
              <a:extLst>
                <a:ext uri="{FF2B5EF4-FFF2-40B4-BE49-F238E27FC236}">
                  <a16:creationId xmlns:a16="http://schemas.microsoft.com/office/drawing/2014/main" id="{57B23B52-A1C3-44EF-BC11-9094A0DA11AB}"/>
                </a:ext>
              </a:extLst>
            </p:cNvPr>
            <p:cNvSpPr/>
            <p:nvPr/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Graphic 15">
              <a:extLst>
                <a:ext uri="{FF2B5EF4-FFF2-40B4-BE49-F238E27FC236}">
                  <a16:creationId xmlns:a16="http://schemas.microsoft.com/office/drawing/2014/main" id="{064E08E5-DA92-4CF2-A0BF-E341800227B2}"/>
                </a:ext>
              </a:extLst>
            </p:cNvPr>
            <p:cNvSpPr/>
            <p:nvPr/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A222560-E657-4CAE-B667-7BE9E224B244}"/>
                </a:ext>
              </a:extLst>
            </p:cNvPr>
            <p:cNvSpPr/>
            <p:nvPr/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9226104-0061-4319-8237-9C001BF85D49}"/>
              </a:ext>
            </a:extLst>
          </p:cNvPr>
          <p:cNvSpPr/>
          <p:nvPr/>
        </p:nvSpPr>
        <p:spPr>
          <a:xfrm rot="5400000">
            <a:off x="615181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78318D-FE3E-41D7-9A8C-2065A2C46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8"/>
            <a:ext cx="10077557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B06718-79E7-4159-A003-F86FE7B3D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717" y="2521885"/>
            <a:ext cx="10077557" cy="3549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F99FF-FFE2-431D-A0C8-A46C21712A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5718" y="1365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769D389-4C4C-4FD7-9E6B-9F44477F0EB8}" type="datetime1">
              <a:rPr lang="en-US" smtClean="0"/>
              <a:t>1/15/26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3547E-668D-4191-847C-7424F75496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5718" y="6356350"/>
            <a:ext cx="34506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B6E6E-8527-4F63-A0C7-84CD44A2B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5367" y="6356350"/>
            <a:ext cx="5298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792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24" r:id="rId6"/>
    <p:sldLayoutId id="2147483719" r:id="rId7"/>
    <p:sldLayoutId id="2147483720" r:id="rId8"/>
    <p:sldLayoutId id="2147483721" r:id="rId9"/>
    <p:sldLayoutId id="2147483723" r:id="rId10"/>
    <p:sldLayoutId id="214748372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5D0B0D3-D735-4619-AA45-B57B791E1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1032" name="Picture 8" descr="Spatial Transcriptomics: Understanding Gene Regulation in the Tissue  Context | Technology Networks">
            <a:extLst>
              <a:ext uri="{FF2B5EF4-FFF2-40B4-BE49-F238E27FC236}">
                <a16:creationId xmlns:a16="http://schemas.microsoft.com/office/drawing/2014/main" id="{D2CB7E9D-C229-DFEC-6CE9-D0234C92EE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D24C0E-16B5-DE6B-4A29-6FB1086E30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1" y="1122363"/>
            <a:ext cx="10989017" cy="197834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Neural Networks from Scratch Final Project - #3 Mystery Dataset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1A0549-5A6F-FC7C-BA5E-DA2B0B4D78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0351" y="3509963"/>
            <a:ext cx="7630931" cy="174783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Edmund Tsou</a:t>
            </a:r>
          </a:p>
          <a:p>
            <a:r>
              <a:rPr lang="en-US" dirty="0">
                <a:solidFill>
                  <a:srgbClr val="FFFFFF"/>
                </a:solidFill>
              </a:rPr>
              <a:t>Johns Hopkins University</a:t>
            </a:r>
          </a:p>
          <a:p>
            <a:r>
              <a:rPr lang="en-US" dirty="0">
                <a:solidFill>
                  <a:srgbClr val="FFFFFF"/>
                </a:solidFill>
              </a:rPr>
              <a:t>B.S. Biomedical Engineering &amp; Computer Science</a:t>
            </a:r>
          </a:p>
        </p:txBody>
      </p:sp>
      <p:grpSp>
        <p:nvGrpSpPr>
          <p:cNvPr id="11" name="Graphic 78">
            <a:extLst>
              <a:ext uri="{FF2B5EF4-FFF2-40B4-BE49-F238E27FC236}">
                <a16:creationId xmlns:a16="http://schemas.microsoft.com/office/drawing/2014/main" id="{DBBA0A0D-8F6A-400A-9E49-8C008E2C7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2" name="Graphic 78">
              <a:extLst>
                <a:ext uri="{FF2B5EF4-FFF2-40B4-BE49-F238E27FC236}">
                  <a16:creationId xmlns:a16="http://schemas.microsoft.com/office/drawing/2014/main" id="{A5DD701E-4BC9-48E3-AF4F-013B52D63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aphic 78">
              <a:extLst>
                <a:ext uri="{FF2B5EF4-FFF2-40B4-BE49-F238E27FC236}">
                  <a16:creationId xmlns:a16="http://schemas.microsoft.com/office/drawing/2014/main" id="{FB658B62-664D-4B3B-BBDA-235666290B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B11F9D25-67B1-4BDB-A290-97B93A19DF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Graphic 78">
                <a:extLst>
                  <a:ext uri="{FF2B5EF4-FFF2-40B4-BE49-F238E27FC236}">
                    <a16:creationId xmlns:a16="http://schemas.microsoft.com/office/drawing/2014/main" id="{B9D5C40A-1B1B-4C25-9707-E8F1CF6EEC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Graphic 78">
                <a:extLst>
                  <a:ext uri="{FF2B5EF4-FFF2-40B4-BE49-F238E27FC236}">
                    <a16:creationId xmlns:a16="http://schemas.microsoft.com/office/drawing/2014/main" id="{2DD0C1D6-FF64-45AB-8775-83AB3C470B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Graphic 78">
                <a:extLst>
                  <a:ext uri="{FF2B5EF4-FFF2-40B4-BE49-F238E27FC236}">
                    <a16:creationId xmlns:a16="http://schemas.microsoft.com/office/drawing/2014/main" id="{15AFBB84-8485-4329-89FC-04663D985B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D505D40-32E9-4C48-81F8-AD80433BE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507BF36-B92B-4CAC-BCA7-8364B51E1F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276237E-3A6D-452F-879C-FB8C77A18D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8BC9243-F4BF-48A7-89AE-DFA5B37DE6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DE414EC-F3DF-412E-9B22-5328DAA99C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5" name="Graphic 12">
              <a:extLst>
                <a:ext uri="{FF2B5EF4-FFF2-40B4-BE49-F238E27FC236}">
                  <a16:creationId xmlns:a16="http://schemas.microsoft.com/office/drawing/2014/main" id="{039C06B1-FDEA-47B1-8222-7D622CD72F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Graphic 15">
              <a:extLst>
                <a:ext uri="{FF2B5EF4-FFF2-40B4-BE49-F238E27FC236}">
                  <a16:creationId xmlns:a16="http://schemas.microsoft.com/office/drawing/2014/main" id="{B834C8C1-9BD1-4635-8E5B-65815F9017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Graphic 15">
              <a:extLst>
                <a:ext uri="{FF2B5EF4-FFF2-40B4-BE49-F238E27FC236}">
                  <a16:creationId xmlns:a16="http://schemas.microsoft.com/office/drawing/2014/main" id="{2963D456-B3F4-4EDC-827E-645741F64D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3A58845-EFFB-4806-BC6D-47418C15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036" name="Picture 12" descr="Johns Hopkins University Advanced ...">
            <a:extLst>
              <a:ext uri="{FF2B5EF4-FFF2-40B4-BE49-F238E27FC236}">
                <a16:creationId xmlns:a16="http://schemas.microsoft.com/office/drawing/2014/main" id="{2B228467-BD9E-A290-9183-E22BC8989E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778" b="96000" l="9778" r="89778">
                        <a14:foregroundMark x1="55556" y1="46667" x2="55556" y2="46667"/>
                        <a14:foregroundMark x1="68000" y1="46222" x2="68000" y2="46222"/>
                        <a14:foregroundMark x1="81333" y1="48000" x2="81333" y2="48000"/>
                        <a14:foregroundMark x1="74222" y1="69333" x2="74222" y2="69333"/>
                        <a14:foregroundMark x1="67556" y1="80000" x2="67556" y2="80000"/>
                        <a14:foregroundMark x1="41778" y1="79556" x2="41778" y2="79556"/>
                        <a14:foregroundMark x1="39111" y1="69333" x2="39111" y2="69333"/>
                        <a14:foregroundMark x1="16889" y1="43111" x2="57333" y2="37333"/>
                        <a14:foregroundMark x1="57333" y1="37333" x2="75111" y2="39111"/>
                        <a14:foregroundMark x1="75111" y1="39111" x2="80889" y2="55556"/>
                        <a14:foregroundMark x1="80889" y1="55556" x2="73778" y2="72889"/>
                        <a14:foregroundMark x1="73778" y1="72889" x2="61333" y2="85333"/>
                        <a14:foregroundMark x1="61333" y1="85333" x2="44000" y2="89778"/>
                        <a14:foregroundMark x1="44000" y1="89778" x2="22667" y2="56889"/>
                        <a14:foregroundMark x1="22667" y1="56889" x2="23111" y2="46222"/>
                        <a14:foregroundMark x1="61778" y1="87556" x2="48889" y2="96000"/>
                        <a14:backgroundMark x1="48000" y1="76000" x2="48000" y2="76000"/>
                        <a14:backgroundMark x1="48444" y1="95559" x2="48444" y2="96444"/>
                        <a14:backgroundMark x1="48889" y1="96000" x2="48889" y2="97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050" y="5023432"/>
            <a:ext cx="1535862" cy="1535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6301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A10AB-04A3-E73E-670A-C8F21FA8E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Goal: Create the best MLP to classify mystery dataset</a:t>
            </a:r>
          </a:p>
        </p:txBody>
      </p:sp>
    </p:spTree>
    <p:extLst>
      <p:ext uri="{BB962C8B-B14F-4D97-AF65-F5344CB8AC3E}">
        <p14:creationId xmlns:p14="http://schemas.microsoft.com/office/powerpoint/2010/main" val="814556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6F13D-213E-4CB9-B637-BE3959840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8" y="-204450"/>
            <a:ext cx="10077556" cy="1325563"/>
          </a:xfrm>
        </p:spPr>
        <p:txBody>
          <a:bodyPr/>
          <a:lstStyle/>
          <a:p>
            <a:r>
              <a:rPr lang="en-US" dirty="0"/>
              <a:t>Dataset Exploration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9437D9-5EA6-EBF2-DC25-865E55168E94}"/>
              </a:ext>
            </a:extLst>
          </p:cNvPr>
          <p:cNvSpPr/>
          <p:nvPr/>
        </p:nvSpPr>
        <p:spPr>
          <a:xfrm>
            <a:off x="363557" y="2192357"/>
            <a:ext cx="1225169" cy="297456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DE2FCE-F588-294F-8CF4-C55B50E33E4F}"/>
              </a:ext>
            </a:extLst>
          </p:cNvPr>
          <p:cNvSpPr txBox="1"/>
          <p:nvPr/>
        </p:nvSpPr>
        <p:spPr>
          <a:xfrm>
            <a:off x="525718" y="1217700"/>
            <a:ext cx="1090979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Dataset details:</a:t>
            </a:r>
            <a:br>
              <a:rPr lang="en-US" sz="2800" dirty="0"/>
            </a:br>
            <a:r>
              <a:rPr lang="en-US" sz="2800" dirty="0"/>
              <a:t>CSV tabular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train: 8000 examples x 205 features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Each example had a class label (0, 1, 2, 3, 4) with 5 possible classes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test: 2000 examples x 205 features with no labels</a:t>
            </a:r>
          </a:p>
        </p:txBody>
      </p:sp>
    </p:spTree>
    <p:extLst>
      <p:ext uri="{BB962C8B-B14F-4D97-AF65-F5344CB8AC3E}">
        <p14:creationId xmlns:p14="http://schemas.microsoft.com/office/powerpoint/2010/main" val="92490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BF2C6-BDD7-BF76-7B5B-0894FA3C7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9D54F-8382-3C14-C7C6-1CEA739BF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8" y="-204450"/>
            <a:ext cx="10077556" cy="1325563"/>
          </a:xfrm>
        </p:spPr>
        <p:txBody>
          <a:bodyPr/>
          <a:lstStyle/>
          <a:p>
            <a:r>
              <a:rPr lang="en-US" dirty="0"/>
              <a:t>Dataset Exploration: class imbalance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E28DC7-20B4-EBBD-1ED1-3AC06DCEE0A0}"/>
              </a:ext>
            </a:extLst>
          </p:cNvPr>
          <p:cNvSpPr/>
          <p:nvPr/>
        </p:nvSpPr>
        <p:spPr>
          <a:xfrm>
            <a:off x="363557" y="2192357"/>
            <a:ext cx="1225169" cy="297456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F3B472-4ADA-3C5D-5C82-58E63B2A6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18" y="1820109"/>
            <a:ext cx="7613175" cy="48447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C07079-8107-D6B1-86A5-5E7C3919DC0B}"/>
              </a:ext>
            </a:extLst>
          </p:cNvPr>
          <p:cNvSpPr txBox="1"/>
          <p:nvPr/>
        </p:nvSpPr>
        <p:spPr>
          <a:xfrm>
            <a:off x="525718" y="1209001"/>
            <a:ext cx="98720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Observation 1: clear class imbalances -&gt; will be theme later</a:t>
            </a:r>
          </a:p>
        </p:txBody>
      </p:sp>
    </p:spTree>
    <p:extLst>
      <p:ext uri="{BB962C8B-B14F-4D97-AF65-F5344CB8AC3E}">
        <p14:creationId xmlns:p14="http://schemas.microsoft.com/office/powerpoint/2010/main" val="2053597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6B732-54CC-09C3-98E4-9AE8FAF2B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0C693-3D97-3E2E-828B-DD24A3468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8" y="-204450"/>
            <a:ext cx="10077556" cy="1325563"/>
          </a:xfrm>
        </p:spPr>
        <p:txBody>
          <a:bodyPr/>
          <a:lstStyle/>
          <a:p>
            <a:r>
              <a:rPr lang="en-US" dirty="0"/>
              <a:t>Dataset Exploration: feature correlations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B927AE-1ADD-B16D-157E-CD39618D27AA}"/>
              </a:ext>
            </a:extLst>
          </p:cNvPr>
          <p:cNvSpPr/>
          <p:nvPr/>
        </p:nvSpPr>
        <p:spPr>
          <a:xfrm>
            <a:off x="363557" y="2192357"/>
            <a:ext cx="1225169" cy="297456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048F79-FC26-95B9-35C8-1748990B33EE}"/>
              </a:ext>
            </a:extLst>
          </p:cNvPr>
          <p:cNvSpPr txBox="1"/>
          <p:nvPr/>
        </p:nvSpPr>
        <p:spPr>
          <a:xfrm>
            <a:off x="525718" y="1209001"/>
            <a:ext cx="81546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Observation 2: features are roughly uncorrelated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B7F185-B4F6-E2DB-5624-072AF19A8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17" y="1732221"/>
            <a:ext cx="5654745" cy="49479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4C3E59B-AFE7-AC0B-6C8A-0D2CDD28347C}"/>
              </a:ext>
            </a:extLst>
          </p:cNvPr>
          <p:cNvSpPr txBox="1"/>
          <p:nvPr/>
        </p:nvSpPr>
        <p:spPr>
          <a:xfrm>
            <a:off x="6342622" y="1817865"/>
            <a:ext cx="532366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Uses Pearsons correlation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No multicollinearity to worry about</a:t>
            </a:r>
          </a:p>
        </p:txBody>
      </p:sp>
    </p:spTree>
    <p:extLst>
      <p:ext uri="{BB962C8B-B14F-4D97-AF65-F5344CB8AC3E}">
        <p14:creationId xmlns:p14="http://schemas.microsoft.com/office/powerpoint/2010/main" val="1456693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1AA74-804F-A253-D979-7B29D27EA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83745-79AD-C813-6313-478899378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8" y="-204450"/>
            <a:ext cx="10077556" cy="1325563"/>
          </a:xfrm>
        </p:spPr>
        <p:txBody>
          <a:bodyPr/>
          <a:lstStyle/>
          <a:p>
            <a:r>
              <a:rPr lang="en-US" dirty="0"/>
              <a:t>Dataset Exploration: PCA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AE5CEF-EFB3-CF9F-4C7F-3200A8F12BE1}"/>
              </a:ext>
            </a:extLst>
          </p:cNvPr>
          <p:cNvSpPr/>
          <p:nvPr/>
        </p:nvSpPr>
        <p:spPr>
          <a:xfrm>
            <a:off x="363557" y="2192357"/>
            <a:ext cx="1225169" cy="297456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A7CE83-25CD-2FDA-E92F-B3FBAA761BFE}"/>
              </a:ext>
            </a:extLst>
          </p:cNvPr>
          <p:cNvSpPr txBox="1"/>
          <p:nvPr/>
        </p:nvSpPr>
        <p:spPr>
          <a:xfrm>
            <a:off x="5844478" y="1341910"/>
            <a:ext cx="598396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First 50 components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Explained variance (50 PCs): 47.6%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Makes sense considering features are mostly uncorrelated</a:t>
            </a:r>
          </a:p>
          <a:p>
            <a:pPr algn="l"/>
            <a:br>
              <a:rPr lang="en-US" sz="2800" dirty="0"/>
            </a:b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2E2BFD-622A-AD6B-2CF8-9BC92D9DC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687" y="1341910"/>
            <a:ext cx="5072717" cy="5282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819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5ACD2-6009-D774-64C5-1823FA128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62F3A-8B94-56E9-D41D-A2ED420B6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8" y="-204450"/>
            <a:ext cx="10077556" cy="1325563"/>
          </a:xfrm>
        </p:spPr>
        <p:txBody>
          <a:bodyPr/>
          <a:lstStyle/>
          <a:p>
            <a:r>
              <a:rPr lang="en-US" dirty="0"/>
              <a:t>Dataset Exploration: T-SNE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D1648F-8ECB-7B55-13FB-98B5EC68E122}"/>
              </a:ext>
            </a:extLst>
          </p:cNvPr>
          <p:cNvSpPr/>
          <p:nvPr/>
        </p:nvSpPr>
        <p:spPr>
          <a:xfrm>
            <a:off x="363557" y="2192357"/>
            <a:ext cx="1225169" cy="297456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05A3A5-FFE0-1D10-B48B-673B49D0B625}"/>
              </a:ext>
            </a:extLst>
          </p:cNvPr>
          <p:cNvSpPr txBox="1"/>
          <p:nvPr/>
        </p:nvSpPr>
        <p:spPr>
          <a:xfrm>
            <a:off x="5939481" y="1353786"/>
            <a:ext cx="598396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First 50 components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Preserves local neighborhoods</a:t>
            </a:r>
          </a:p>
          <a:p>
            <a:pPr algn="l"/>
            <a:br>
              <a:rPr lang="en-US" sz="2800" dirty="0"/>
            </a:b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44AE17-508F-5759-82C7-7E596E9BE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26" y="1229636"/>
            <a:ext cx="5213151" cy="54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371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A02BF-FEE8-69F4-CF18-BC4BA509A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FD393-BC99-A385-E10D-5F62A2617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8" y="-204450"/>
            <a:ext cx="10077556" cy="1325563"/>
          </a:xfrm>
        </p:spPr>
        <p:txBody>
          <a:bodyPr/>
          <a:lstStyle/>
          <a:p>
            <a:r>
              <a:rPr lang="en-US" dirty="0"/>
              <a:t>Dataset Exploration: UMAP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D04604-051D-61D9-E372-62953D69A1C8}"/>
              </a:ext>
            </a:extLst>
          </p:cNvPr>
          <p:cNvSpPr/>
          <p:nvPr/>
        </p:nvSpPr>
        <p:spPr>
          <a:xfrm>
            <a:off x="363557" y="2192357"/>
            <a:ext cx="1225169" cy="297456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4ACAA2-1D75-6C28-659C-B9E004DE2D54}"/>
              </a:ext>
            </a:extLst>
          </p:cNvPr>
          <p:cNvSpPr txBox="1"/>
          <p:nvPr/>
        </p:nvSpPr>
        <p:spPr>
          <a:xfrm>
            <a:off x="5939481" y="1353786"/>
            <a:ext cx="598396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First 50 components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Preserves local neighborhoods and some global structure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Takeaway: class differences are subtly and may rely on non-obvious patterns </a:t>
            </a:r>
            <a:br>
              <a:rPr lang="en-US" sz="2800" dirty="0"/>
            </a:b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0E2106-538B-3540-D830-47F0D0ACDE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703" y="1306057"/>
            <a:ext cx="4915158" cy="511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299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E2ED7-6893-2014-26D8-2E84E1480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18A79-3D83-27C7-E023-808AC8D58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8" y="-204450"/>
            <a:ext cx="10077556" cy="1325563"/>
          </a:xfrm>
        </p:spPr>
        <p:txBody>
          <a:bodyPr/>
          <a:lstStyle/>
          <a:p>
            <a:r>
              <a:rPr lang="en-US" dirty="0"/>
              <a:t>Baseline Model: </a:t>
            </a:r>
            <a:r>
              <a:rPr lang="en-US" dirty="0" err="1"/>
              <a:t>XGBoost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DD73F5-B0EB-5B81-9351-40EC724F7F0C}"/>
              </a:ext>
            </a:extLst>
          </p:cNvPr>
          <p:cNvSpPr/>
          <p:nvPr/>
        </p:nvSpPr>
        <p:spPr>
          <a:xfrm>
            <a:off x="363557" y="2192357"/>
            <a:ext cx="1225169" cy="297456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C5436A-03A1-6976-2C0D-3B90F1B1184E}"/>
              </a:ext>
            </a:extLst>
          </p:cNvPr>
          <p:cNvSpPr txBox="1"/>
          <p:nvPr/>
        </p:nvSpPr>
        <p:spPr>
          <a:xfrm>
            <a:off x="525718" y="1238250"/>
            <a:ext cx="1029974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/>
              <a:t>XGBoost</a:t>
            </a:r>
            <a:r>
              <a:rPr lang="en-US" sz="2800" dirty="0"/>
              <a:t> is often best performing model on tabular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Use </a:t>
            </a:r>
            <a:r>
              <a:rPr lang="en-US" sz="2800" dirty="0" err="1"/>
              <a:t>XGBoost</a:t>
            </a:r>
            <a:r>
              <a:rPr lang="en-US" sz="2800" dirty="0"/>
              <a:t> as baseline and see if we can beat it with MLP</a:t>
            </a:r>
          </a:p>
        </p:txBody>
      </p:sp>
      <p:pic>
        <p:nvPicPr>
          <p:cNvPr id="1026" name="Picture 2" descr="XGBoost Algorithm Explained in Less Than 5 Minutes | by Nilesh Verma |  Medium">
            <a:extLst>
              <a:ext uri="{FF2B5EF4-FFF2-40B4-BE49-F238E27FC236}">
                <a16:creationId xmlns:a16="http://schemas.microsoft.com/office/drawing/2014/main" id="{12779858-EC60-66BB-D8E9-DE12D29C60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57" y="2020450"/>
            <a:ext cx="8317071" cy="4665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8626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979EE-2291-803C-4ECC-C2FC3BEFD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F3740-346B-F5FD-B3C2-C6DA85465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8" y="-204450"/>
            <a:ext cx="10077556" cy="1325563"/>
          </a:xfrm>
        </p:spPr>
        <p:txBody>
          <a:bodyPr/>
          <a:lstStyle/>
          <a:p>
            <a:r>
              <a:rPr lang="en-US" dirty="0"/>
              <a:t>Baseline Model: </a:t>
            </a:r>
            <a:r>
              <a:rPr lang="en-US" dirty="0" err="1"/>
              <a:t>XGBoost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332852-66B2-0878-7267-EDD8E1DFD287}"/>
              </a:ext>
            </a:extLst>
          </p:cNvPr>
          <p:cNvSpPr/>
          <p:nvPr/>
        </p:nvSpPr>
        <p:spPr>
          <a:xfrm>
            <a:off x="363557" y="2192357"/>
            <a:ext cx="1225169" cy="297456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6FB05D-B180-75B5-3325-EACF0C6EFF76}"/>
              </a:ext>
            </a:extLst>
          </p:cNvPr>
          <p:cNvSpPr txBox="1"/>
          <p:nvPr/>
        </p:nvSpPr>
        <p:spPr>
          <a:xfrm>
            <a:off x="4425402" y="1108816"/>
            <a:ext cx="821786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Methods: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Use 5-fold cross validation with shuffling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For each training fold, calculate inverse weights based on the frequency of the class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Train </a:t>
            </a:r>
            <a:r>
              <a:rPr lang="en-US" sz="2800" dirty="0" err="1"/>
              <a:t>XGboost</a:t>
            </a:r>
            <a:r>
              <a:rPr lang="en-US" sz="2800" dirty="0"/>
              <a:t> model with 660 estimators (found from hyperparameter grid search)</a:t>
            </a:r>
          </a:p>
          <a:p>
            <a:r>
              <a:rPr lang="en-US" sz="2800" dirty="0"/>
              <a:t>Results: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Accuracy: 0.84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Performed much worse on smaller classes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FF0BF7-336D-296F-D517-2BB9109C84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18" y="1108816"/>
            <a:ext cx="3773150" cy="3171207"/>
          </a:xfrm>
          <a:prstGeom prst="rect">
            <a:avLst/>
          </a:prstGeom>
        </p:spPr>
      </p:pic>
      <p:pic>
        <p:nvPicPr>
          <p:cNvPr id="9" name="Picture 8" descr="A screen shot of a black screen&#10;&#10;Description automatically generated">
            <a:extLst>
              <a:ext uri="{FF2B5EF4-FFF2-40B4-BE49-F238E27FC236}">
                <a16:creationId xmlns:a16="http://schemas.microsoft.com/office/drawing/2014/main" id="{FCEEE228-0E0A-807C-5766-DF691B8130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18" y="4280023"/>
            <a:ext cx="3773150" cy="261218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F5B0681-CAB8-5CCF-9AA6-2E45709A15F4}"/>
              </a:ext>
            </a:extLst>
          </p:cNvPr>
          <p:cNvSpPr txBox="1"/>
          <p:nvPr/>
        </p:nvSpPr>
        <p:spPr>
          <a:xfrm>
            <a:off x="914400" y="650767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12040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A271C-C196-181C-74B0-6649DBDD1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854DC-B2F1-3C6B-16F1-23309FBFA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8" y="-204450"/>
            <a:ext cx="10077556" cy="1325563"/>
          </a:xfrm>
        </p:spPr>
        <p:txBody>
          <a:bodyPr/>
          <a:lstStyle/>
          <a:p>
            <a:r>
              <a:rPr lang="en-US" dirty="0"/>
              <a:t>MLP Model 1: standard MLP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BDE446-935B-E41B-FFFC-45BACF72606A}"/>
              </a:ext>
            </a:extLst>
          </p:cNvPr>
          <p:cNvSpPr/>
          <p:nvPr/>
        </p:nvSpPr>
        <p:spPr>
          <a:xfrm>
            <a:off x="363557" y="2192357"/>
            <a:ext cx="1225169" cy="297456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461FCB-BD61-E666-FE0F-648DAF4E1499}"/>
              </a:ext>
            </a:extLst>
          </p:cNvPr>
          <p:cNvSpPr txBox="1"/>
          <p:nvPr/>
        </p:nvSpPr>
        <p:spPr>
          <a:xfrm>
            <a:off x="525717" y="1114070"/>
            <a:ext cx="10613337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Methods: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2800" dirty="0"/>
              <a:t>Standardize features**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2800" dirty="0"/>
              <a:t>Architecture and hyperparameters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800" dirty="0"/>
              <a:t>2 hidden layers (512, 256)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800" dirty="0"/>
              <a:t>Dropout (0.35)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800" dirty="0"/>
              <a:t>Weight Decay (1e-4): basically L2 regularization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800" dirty="0" err="1"/>
              <a:t>AdamW</a:t>
            </a:r>
            <a:r>
              <a:rPr lang="en-US" sz="2800" dirty="0"/>
              <a:t> optimizer (</a:t>
            </a:r>
            <a:r>
              <a:rPr lang="en-US" sz="2800" dirty="0" err="1"/>
              <a:t>lr</a:t>
            </a:r>
            <a:r>
              <a:rPr lang="en-US" sz="2800" dirty="0"/>
              <a:t>=1e-3)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800" dirty="0"/>
              <a:t>Batch Normalization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800" dirty="0"/>
              <a:t>Cross-Entropy Loss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2800" dirty="0"/>
              <a:t>Inverse class weights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2800" dirty="0"/>
              <a:t>Trained for 40 epochs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2800" dirty="0"/>
              <a:t>5-fold cross validation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514350" indent="-514350">
              <a:buFont typeface="+mj-lt"/>
              <a:buAutoNum type="arabicParenR"/>
            </a:pPr>
            <a:endParaRPr 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FB793E-5BA3-8714-1208-5DFE4DD8DBEC}"/>
              </a:ext>
            </a:extLst>
          </p:cNvPr>
          <p:cNvSpPr txBox="1"/>
          <p:nvPr/>
        </p:nvSpPr>
        <p:spPr>
          <a:xfrm>
            <a:off x="914400" y="650767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406751-7585-DF26-A43A-F128FB5303F6}"/>
              </a:ext>
            </a:extLst>
          </p:cNvPr>
          <p:cNvSpPr txBox="1"/>
          <p:nvPr/>
        </p:nvSpPr>
        <p:spPr>
          <a:xfrm>
            <a:off x="201880" y="6488668"/>
            <a:ext cx="9390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** forgot this at first but makes a big different, accuracy shot up 3-4% after standardizing</a:t>
            </a: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A6261D7E-D345-284B-E2B0-6577EE8F930A}"/>
              </a:ext>
            </a:extLst>
          </p:cNvPr>
          <p:cNvSpPr/>
          <p:nvPr/>
        </p:nvSpPr>
        <p:spPr>
          <a:xfrm>
            <a:off x="9367955" y="2814819"/>
            <a:ext cx="674611" cy="1674421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49AACF-1304-54AA-0849-DFE03E2EC3B9}"/>
              </a:ext>
            </a:extLst>
          </p:cNvPr>
          <p:cNvSpPr txBox="1"/>
          <p:nvPr/>
        </p:nvSpPr>
        <p:spPr>
          <a:xfrm>
            <a:off x="10042566" y="3402281"/>
            <a:ext cx="21494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Regularization to prevent overfitting</a:t>
            </a:r>
          </a:p>
        </p:txBody>
      </p:sp>
    </p:spTree>
    <p:extLst>
      <p:ext uri="{BB962C8B-B14F-4D97-AF65-F5344CB8AC3E}">
        <p14:creationId xmlns:p14="http://schemas.microsoft.com/office/powerpoint/2010/main" val="38852212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8C2AB-3E23-6573-8C90-537BB04D9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3185D-D035-0659-63E9-D384FD886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8" y="-204450"/>
            <a:ext cx="10077556" cy="1325563"/>
          </a:xfrm>
        </p:spPr>
        <p:txBody>
          <a:bodyPr/>
          <a:lstStyle/>
          <a:p>
            <a:r>
              <a:rPr lang="en-US" dirty="0"/>
              <a:t>MLP Model 1: standard MLP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EBF54F-08EC-3883-AF1E-3AF8E96528EF}"/>
              </a:ext>
            </a:extLst>
          </p:cNvPr>
          <p:cNvSpPr/>
          <p:nvPr/>
        </p:nvSpPr>
        <p:spPr>
          <a:xfrm>
            <a:off x="363557" y="2192357"/>
            <a:ext cx="1225169" cy="297456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872919-9371-3599-D824-0DFCA9403B77}"/>
              </a:ext>
            </a:extLst>
          </p:cNvPr>
          <p:cNvSpPr txBox="1"/>
          <p:nvPr/>
        </p:nvSpPr>
        <p:spPr>
          <a:xfrm>
            <a:off x="914400" y="650767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9C0476-DE22-D93B-6D40-E9636876D8C1}"/>
              </a:ext>
            </a:extLst>
          </p:cNvPr>
          <p:cNvSpPr txBox="1"/>
          <p:nvPr/>
        </p:nvSpPr>
        <p:spPr>
          <a:xfrm>
            <a:off x="6029756" y="3561057"/>
            <a:ext cx="554417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Problem 2: Clear signs of overfitting as accuracy holds constant but loss increases over training epochs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EA8839-66A4-4563-7856-835D10537951}"/>
              </a:ext>
            </a:extLst>
          </p:cNvPr>
          <p:cNvSpPr txBox="1"/>
          <p:nvPr/>
        </p:nvSpPr>
        <p:spPr>
          <a:xfrm>
            <a:off x="7186173" y="1060986"/>
            <a:ext cx="500582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Overall accuracy: 0.874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Better than </a:t>
            </a:r>
            <a:r>
              <a:rPr lang="en-US" sz="2800" dirty="0" err="1"/>
              <a:t>XGboost</a:t>
            </a:r>
            <a:r>
              <a:rPr lang="en-US" sz="2800" dirty="0"/>
              <a:t>!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Problem 1: does better on smallest dataset but still not great</a:t>
            </a:r>
          </a:p>
        </p:txBody>
      </p:sp>
      <p:pic>
        <p:nvPicPr>
          <p:cNvPr id="16" name="Picture 15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4B340608-854F-B36F-84C6-26BE05D07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068" y="1181240"/>
            <a:ext cx="4108311" cy="209478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6A358FA-0EB1-FA34-3C2D-ADBA97E292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4609" y="1156724"/>
            <a:ext cx="2381564" cy="210356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59F0AD6-B8AF-F6E8-D93E-AE000D337B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391" y="3435445"/>
            <a:ext cx="5638800" cy="311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1202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46BB9-926E-67F7-5F50-A2A5A64DF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8DAB1-8428-FF09-E69A-93E028437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8" y="-204450"/>
            <a:ext cx="10077556" cy="1325563"/>
          </a:xfrm>
        </p:spPr>
        <p:txBody>
          <a:bodyPr/>
          <a:lstStyle/>
          <a:p>
            <a:r>
              <a:rPr lang="en-US" dirty="0"/>
              <a:t>MLP Model 2: standard MLP with focal loss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701D3A-7ABE-ECBD-8264-398DC81A6A0C}"/>
              </a:ext>
            </a:extLst>
          </p:cNvPr>
          <p:cNvSpPr/>
          <p:nvPr/>
        </p:nvSpPr>
        <p:spPr>
          <a:xfrm>
            <a:off x="363557" y="2192357"/>
            <a:ext cx="1225169" cy="297456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6EF9A5-3F11-9F1D-B4D3-94E31290EE7B}"/>
              </a:ext>
            </a:extLst>
          </p:cNvPr>
          <p:cNvSpPr txBox="1"/>
          <p:nvPr/>
        </p:nvSpPr>
        <p:spPr>
          <a:xfrm>
            <a:off x="525717" y="1114070"/>
            <a:ext cx="1061333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Methods: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dirty="0"/>
              <a:t>Same exact model as model 1 but using focal loss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514350" indent="-514350">
              <a:buFont typeface="+mj-lt"/>
              <a:buAutoNum type="arabicParenR"/>
            </a:pPr>
            <a:endParaRPr 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88ED91-76AE-6B0A-A901-5B8153E0DF53}"/>
              </a:ext>
            </a:extLst>
          </p:cNvPr>
          <p:cNvSpPr txBox="1"/>
          <p:nvPr/>
        </p:nvSpPr>
        <p:spPr>
          <a:xfrm>
            <a:off x="914400" y="650767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3074" name="Picture 2" descr="How Focal Loss Revolutionized Object Detection | Ultralytics posted on the  topic | LinkedIn">
            <a:extLst>
              <a:ext uri="{FF2B5EF4-FFF2-40B4-BE49-F238E27FC236}">
                <a16:creationId xmlns:a16="http://schemas.microsoft.com/office/drawing/2014/main" id="{DD696B9E-8B7F-F49D-B24A-5D229FDB3F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CFCFC"/>
              </a:clrFrom>
              <a:clrTo>
                <a:srgbClr val="FCFCF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56" y="2289511"/>
            <a:ext cx="4157353" cy="4157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612594F-C46B-71C4-E540-C6183470B8CC}"/>
              </a:ext>
            </a:extLst>
          </p:cNvPr>
          <p:cNvSpPr txBox="1"/>
          <p:nvPr/>
        </p:nvSpPr>
        <p:spPr>
          <a:xfrm>
            <a:off x="4132559" y="2228697"/>
            <a:ext cx="805944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Focuses on “hard” example (</a:t>
            </a:r>
            <a:r>
              <a:rPr lang="en-US" sz="2800" dirty="0" err="1"/>
              <a:t>i.e</a:t>
            </a:r>
            <a:r>
              <a:rPr lang="en-US" sz="2800" dirty="0"/>
              <a:t> smaller classes) and less on “easy” examples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Modified cross-entropy loss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Gamma is focusing parameter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When gamma = 0, same as CE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When gamma higher, higher probability or confidence outputs are weighted less to loss function</a:t>
            </a:r>
          </a:p>
        </p:txBody>
      </p:sp>
    </p:spTree>
    <p:extLst>
      <p:ext uri="{BB962C8B-B14F-4D97-AF65-F5344CB8AC3E}">
        <p14:creationId xmlns:p14="http://schemas.microsoft.com/office/powerpoint/2010/main" val="970927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9DC4A-55F8-B860-3920-EC1AF1781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A2573-9604-BE81-8C08-7E26EA052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8" y="-204450"/>
            <a:ext cx="10077556" cy="1325563"/>
          </a:xfrm>
        </p:spPr>
        <p:txBody>
          <a:bodyPr/>
          <a:lstStyle/>
          <a:p>
            <a:r>
              <a:rPr lang="en-US" dirty="0"/>
              <a:t>MLP Model 2: standard MLP with focal loss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9D7813-3952-7A2C-E73D-07F98924D49E}"/>
              </a:ext>
            </a:extLst>
          </p:cNvPr>
          <p:cNvSpPr/>
          <p:nvPr/>
        </p:nvSpPr>
        <p:spPr>
          <a:xfrm>
            <a:off x="363557" y="2192357"/>
            <a:ext cx="1225169" cy="297456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585290-95D0-6B45-B89E-39BAFEFE3D0B}"/>
              </a:ext>
            </a:extLst>
          </p:cNvPr>
          <p:cNvSpPr txBox="1"/>
          <p:nvPr/>
        </p:nvSpPr>
        <p:spPr>
          <a:xfrm>
            <a:off x="914400" y="650767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80ED1D-5217-E4A8-6FA1-D445B22E1F31}"/>
              </a:ext>
            </a:extLst>
          </p:cNvPr>
          <p:cNvSpPr txBox="1"/>
          <p:nvPr/>
        </p:nvSpPr>
        <p:spPr>
          <a:xfrm>
            <a:off x="5899126" y="3561058"/>
            <a:ext cx="5544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Problem: still overfitting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8220BF-F9C3-A6E4-731F-0EE4300E42D1}"/>
              </a:ext>
            </a:extLst>
          </p:cNvPr>
          <p:cNvSpPr txBox="1"/>
          <p:nvPr/>
        </p:nvSpPr>
        <p:spPr>
          <a:xfrm>
            <a:off x="7454989" y="1133676"/>
            <a:ext cx="472477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Overall accuracy: 0.857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Performance got worse</a:t>
            </a:r>
          </a:p>
          <a:p>
            <a:pPr lvl="1"/>
            <a:r>
              <a:rPr lang="en-US" sz="2800" dirty="0"/>
              <a:t>Hypothesis: focal loss is notoriously sensitive to outliers</a:t>
            </a:r>
          </a:p>
        </p:txBody>
      </p:sp>
      <p:pic>
        <p:nvPicPr>
          <p:cNvPr id="4" name="Picture 3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33689F53-06AE-2DE7-B432-49980C3998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506" y="1133676"/>
            <a:ext cx="4399556" cy="21632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AC4550F-1622-C596-6AA2-8FC2937983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5828" y="1133676"/>
            <a:ext cx="2449161" cy="21632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A710D7-BB20-8B70-A247-271878E233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608" y="3429000"/>
            <a:ext cx="5638800" cy="311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4546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FF3E8-2D9F-82A4-9A8F-21079ED7D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A3684-00FB-E319-28C6-74888BB5B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8" y="-204450"/>
            <a:ext cx="10077556" cy="1325563"/>
          </a:xfrm>
        </p:spPr>
        <p:txBody>
          <a:bodyPr/>
          <a:lstStyle/>
          <a:p>
            <a:r>
              <a:rPr lang="en-US" dirty="0"/>
              <a:t>MLP Model 4: wide and deep NN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CD0DDF-9B4A-2489-7B93-DE06B19EC3FD}"/>
              </a:ext>
            </a:extLst>
          </p:cNvPr>
          <p:cNvSpPr/>
          <p:nvPr/>
        </p:nvSpPr>
        <p:spPr>
          <a:xfrm>
            <a:off x="363557" y="2192357"/>
            <a:ext cx="1225169" cy="297456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701FA8-B591-DF8C-9852-4B8812996B3C}"/>
              </a:ext>
            </a:extLst>
          </p:cNvPr>
          <p:cNvSpPr txBox="1"/>
          <p:nvPr/>
        </p:nvSpPr>
        <p:spPr>
          <a:xfrm>
            <a:off x="914400" y="650767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54A75F-4DDD-BA62-0DB3-68B93E60334C}"/>
              </a:ext>
            </a:extLst>
          </p:cNvPr>
          <p:cNvSpPr txBox="1"/>
          <p:nvPr/>
        </p:nvSpPr>
        <p:spPr>
          <a:xfrm>
            <a:off x="525717" y="1114070"/>
            <a:ext cx="11302726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Methods: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2800" dirty="0"/>
              <a:t>Standardize features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2800" dirty="0"/>
              <a:t>Architecture and hyperparameters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800" dirty="0"/>
              <a:t>Deep: 3  hidden layers funneled (256, 128, 64) (generalize)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800" dirty="0"/>
              <a:t>Wide: input features fed directly to final logits (memorize)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800" dirty="0"/>
              <a:t>Dropout (0.35) + Weight Decay (1e-4) 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800" dirty="0" err="1"/>
              <a:t>AdamW</a:t>
            </a:r>
            <a:r>
              <a:rPr lang="en-US" sz="2800" dirty="0"/>
              <a:t> optimizer (</a:t>
            </a:r>
            <a:r>
              <a:rPr lang="en-US" sz="2800" dirty="0" err="1"/>
              <a:t>lr</a:t>
            </a:r>
            <a:r>
              <a:rPr lang="en-US" sz="2800" dirty="0"/>
              <a:t>=1e-3)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800" dirty="0"/>
              <a:t>Switch to </a:t>
            </a:r>
            <a:r>
              <a:rPr lang="en-US" sz="2800" dirty="0" err="1"/>
              <a:t>LeakyReLU</a:t>
            </a:r>
            <a:r>
              <a:rPr lang="en-US" sz="2800" dirty="0"/>
              <a:t> (alpha=0.1)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800" dirty="0"/>
              <a:t>Batch normalization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800" dirty="0"/>
              <a:t>Cross-Entropy Loss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2800" dirty="0"/>
              <a:t>Inverse class weights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2800" dirty="0"/>
              <a:t>Trained for 40 epochs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2800" dirty="0"/>
              <a:t>5-fold cross validation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514350" indent="-514350">
              <a:buFont typeface="+mj-lt"/>
              <a:buAutoNum type="arabicParenR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932420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19559-59DD-876B-EC57-3D04A92DA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7895B-C5D1-6E80-FF21-FBA398B64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8" y="-204450"/>
            <a:ext cx="10077556" cy="1325563"/>
          </a:xfrm>
        </p:spPr>
        <p:txBody>
          <a:bodyPr/>
          <a:lstStyle/>
          <a:p>
            <a:r>
              <a:rPr lang="en-US" dirty="0"/>
              <a:t>MLP Model 4: wide and deep NN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40FF4D-9F5A-DDFD-4D3D-ACA630ED5A1B}"/>
              </a:ext>
            </a:extLst>
          </p:cNvPr>
          <p:cNvSpPr/>
          <p:nvPr/>
        </p:nvSpPr>
        <p:spPr>
          <a:xfrm>
            <a:off x="363557" y="2192357"/>
            <a:ext cx="1225169" cy="297456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9D4377-AE75-6D3D-6B95-270037F006C1}"/>
              </a:ext>
            </a:extLst>
          </p:cNvPr>
          <p:cNvSpPr txBox="1"/>
          <p:nvPr/>
        </p:nvSpPr>
        <p:spPr>
          <a:xfrm>
            <a:off x="914400" y="650767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EB6734-17AB-EF69-19F8-783DFF319D15}"/>
              </a:ext>
            </a:extLst>
          </p:cNvPr>
          <p:cNvSpPr txBox="1"/>
          <p:nvPr/>
        </p:nvSpPr>
        <p:spPr>
          <a:xfrm>
            <a:off x="5732718" y="3561058"/>
            <a:ext cx="554417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Seemed to help overfitting, more stable training loss and accuracy curves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0535DB-72BE-2FEC-0365-1618535980FA}"/>
              </a:ext>
            </a:extLst>
          </p:cNvPr>
          <p:cNvSpPr txBox="1"/>
          <p:nvPr/>
        </p:nvSpPr>
        <p:spPr>
          <a:xfrm>
            <a:off x="7454989" y="1133676"/>
            <a:ext cx="472477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Overall accuracy: 0.859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Performance got worse</a:t>
            </a:r>
          </a:p>
          <a:p>
            <a:pPr lvl="1"/>
            <a:r>
              <a:rPr lang="en-US" sz="2800" dirty="0"/>
              <a:t>Hypothesis: focal loss is notoriously sensitive to outliers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5BB7C6-2903-FA65-E505-F2FD756BF2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18" y="3548494"/>
            <a:ext cx="5207000" cy="2984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FC0FE73-0EFF-FD37-663C-4C3843D79A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5828" y="1133675"/>
            <a:ext cx="2449161" cy="2163267"/>
          </a:xfrm>
          <a:prstGeom prst="rect">
            <a:avLst/>
          </a:prstGeom>
        </p:spPr>
      </p:pic>
      <p:pic>
        <p:nvPicPr>
          <p:cNvPr id="11" name="Picture 10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4A255E0E-5074-C729-FD72-8C165C5AE5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141" y="1121113"/>
            <a:ext cx="4351213" cy="2486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7172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95586-237F-40F2-C2E5-89104406D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10A8B-A6C3-BA0C-FDF7-502370029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8" y="-204450"/>
            <a:ext cx="10077556" cy="1325563"/>
          </a:xfrm>
        </p:spPr>
        <p:txBody>
          <a:bodyPr/>
          <a:lstStyle/>
          <a:p>
            <a:r>
              <a:rPr lang="en-US" dirty="0"/>
              <a:t>MLP Model 5: two-stage </a:t>
            </a:r>
            <a:r>
              <a:rPr lang="en-US" dirty="0" err="1"/>
              <a:t>classifer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C42CD1-8CAA-B38B-5AB7-D4199EBFE845}"/>
              </a:ext>
            </a:extLst>
          </p:cNvPr>
          <p:cNvSpPr/>
          <p:nvPr/>
        </p:nvSpPr>
        <p:spPr>
          <a:xfrm>
            <a:off x="363557" y="2192357"/>
            <a:ext cx="1225169" cy="297456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D92E89-957F-CED6-0E08-3E322BBCEF2E}"/>
              </a:ext>
            </a:extLst>
          </p:cNvPr>
          <p:cNvSpPr txBox="1"/>
          <p:nvPr/>
        </p:nvSpPr>
        <p:spPr>
          <a:xfrm>
            <a:off x="914400" y="650767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4D0B8B-A7C9-AA9A-CB59-FEF7E912DC3E}"/>
              </a:ext>
            </a:extLst>
          </p:cNvPr>
          <p:cNvSpPr txBox="1"/>
          <p:nvPr/>
        </p:nvSpPr>
        <p:spPr>
          <a:xfrm>
            <a:off x="525717" y="1114070"/>
            <a:ext cx="1130272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Methods: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2800" dirty="0"/>
              <a:t>Standardize features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2800" dirty="0"/>
              <a:t>Binary detector: just distinguish class 4 from rest of classes to help class imbalance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2800" dirty="0"/>
              <a:t>Multiclass detector: distinguish classes 0-3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2800" dirty="0"/>
              <a:t>Same architecture as model 1</a:t>
            </a:r>
          </a:p>
          <a:p>
            <a:r>
              <a:rPr lang="en-US" sz="2800" dirty="0"/>
              <a:t>4) Train both for 40 epochs</a:t>
            </a:r>
          </a:p>
          <a:p>
            <a:r>
              <a:rPr lang="en-US" sz="2800" dirty="0"/>
              <a:t>5) 5-fold cross-validation</a:t>
            </a:r>
          </a:p>
          <a:p>
            <a:endParaRPr lang="en-US" sz="2800" dirty="0"/>
          </a:p>
          <a:p>
            <a:pPr marL="514350" indent="-514350">
              <a:buFont typeface="+mj-lt"/>
              <a:buAutoNum type="arabicParenR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727694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E7298-ECD9-CC0E-2C26-29B4F20DB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CE30B-5757-1647-E390-5C4734131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8" y="-204450"/>
            <a:ext cx="10077556" cy="1325563"/>
          </a:xfrm>
        </p:spPr>
        <p:txBody>
          <a:bodyPr/>
          <a:lstStyle/>
          <a:p>
            <a:r>
              <a:rPr lang="en-US" dirty="0"/>
              <a:t>MLP Model 5: two-stage </a:t>
            </a:r>
            <a:r>
              <a:rPr lang="en-US" dirty="0" err="1"/>
              <a:t>classifer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8AF991-A31A-7F7B-12D6-C7D4829ACBF0}"/>
              </a:ext>
            </a:extLst>
          </p:cNvPr>
          <p:cNvSpPr/>
          <p:nvPr/>
        </p:nvSpPr>
        <p:spPr>
          <a:xfrm>
            <a:off x="363557" y="2192357"/>
            <a:ext cx="1225169" cy="297456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2D608A-640B-08C0-020B-8B3234041498}"/>
              </a:ext>
            </a:extLst>
          </p:cNvPr>
          <p:cNvSpPr txBox="1"/>
          <p:nvPr/>
        </p:nvSpPr>
        <p:spPr>
          <a:xfrm>
            <a:off x="914400" y="650767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4FC7AF-E6FA-7C61-C3CC-E8C479E0B2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392" y="1231983"/>
            <a:ext cx="5638800" cy="3111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18DB60E-D9C9-6BB0-E0A7-EFCD3BDA47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2357" y="1231983"/>
            <a:ext cx="5638800" cy="3111500"/>
          </a:xfrm>
          <a:prstGeom prst="rect">
            <a:avLst/>
          </a:prstGeom>
        </p:spPr>
      </p:pic>
      <p:pic>
        <p:nvPicPr>
          <p:cNvPr id="9" name="Picture 8" descr="A screen shot of a computer&#10;&#10;Description automatically generated">
            <a:extLst>
              <a:ext uri="{FF2B5EF4-FFF2-40B4-BE49-F238E27FC236}">
                <a16:creationId xmlns:a16="http://schemas.microsoft.com/office/drawing/2014/main" id="{84CDD148-C984-7F17-9EAB-0566893230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392" y="4368188"/>
            <a:ext cx="4715494" cy="236761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0AA00EE-C8C5-CAA5-CA38-BC11278718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3442" y="4368188"/>
            <a:ext cx="2732397" cy="241344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4578C89-5943-DB3C-B462-66CFF3AEB263}"/>
              </a:ext>
            </a:extLst>
          </p:cNvPr>
          <p:cNvSpPr txBox="1"/>
          <p:nvPr/>
        </p:nvSpPr>
        <p:spPr>
          <a:xfrm>
            <a:off x="7825839" y="4368188"/>
            <a:ext cx="43661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TLDR: accuracy 0.861, didn’t help much</a:t>
            </a:r>
          </a:p>
          <a:p>
            <a:endParaRPr lang="en-US" dirty="0"/>
          </a:p>
          <a:p>
            <a:r>
              <a:rPr lang="en-US" dirty="0"/>
              <a:t>Hypothesis: errors from first classifier propagate; loss of shared feature representation and interclass contrast</a:t>
            </a:r>
          </a:p>
        </p:txBody>
      </p:sp>
    </p:spTree>
    <p:extLst>
      <p:ext uri="{BB962C8B-B14F-4D97-AF65-F5344CB8AC3E}">
        <p14:creationId xmlns:p14="http://schemas.microsoft.com/office/powerpoint/2010/main" val="33131402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FA775-37C2-8901-4631-A63F757BC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A530D-36A8-F576-121B-DD01F66BF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8" y="-204450"/>
            <a:ext cx="12038376" cy="1325563"/>
          </a:xfrm>
        </p:spPr>
        <p:txBody>
          <a:bodyPr/>
          <a:lstStyle/>
          <a:p>
            <a:r>
              <a:rPr lang="en-US" dirty="0"/>
              <a:t>MLP Model 6: standard MLP + more regularization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354B43-83BF-BDDD-F5AD-AFF325D892B0}"/>
              </a:ext>
            </a:extLst>
          </p:cNvPr>
          <p:cNvSpPr/>
          <p:nvPr/>
        </p:nvSpPr>
        <p:spPr>
          <a:xfrm>
            <a:off x="363557" y="2192357"/>
            <a:ext cx="1225169" cy="297456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6C36E7-C700-59CC-6A0B-8F1D98EB455E}"/>
              </a:ext>
            </a:extLst>
          </p:cNvPr>
          <p:cNvSpPr txBox="1"/>
          <p:nvPr/>
        </p:nvSpPr>
        <p:spPr>
          <a:xfrm>
            <a:off x="914400" y="650767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C8D8C6-6270-C31D-92B2-F7BA0EEBBA09}"/>
              </a:ext>
            </a:extLst>
          </p:cNvPr>
          <p:cNvSpPr txBox="1"/>
          <p:nvPr/>
        </p:nvSpPr>
        <p:spPr>
          <a:xfrm>
            <a:off x="507434" y="1116299"/>
            <a:ext cx="116845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Model 1 + early stopping and label smoothing + more weight decay</a:t>
            </a:r>
          </a:p>
        </p:txBody>
      </p:sp>
      <p:pic>
        <p:nvPicPr>
          <p:cNvPr id="4098" name="Picture 2" descr="Label Smoothing — Make your model less ...">
            <a:extLst>
              <a:ext uri="{FF2B5EF4-FFF2-40B4-BE49-F238E27FC236}">
                <a16:creationId xmlns:a16="http://schemas.microsoft.com/office/drawing/2014/main" id="{E8F6E105-0D8C-646A-B97D-46DF869CD2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17" y="1702983"/>
            <a:ext cx="4766403" cy="1930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7DB361B-B52D-97B1-2E75-84C31C5EBCBC}"/>
              </a:ext>
            </a:extLst>
          </p:cNvPr>
          <p:cNvSpPr txBox="1"/>
          <p:nvPr/>
        </p:nvSpPr>
        <p:spPr>
          <a:xfrm>
            <a:off x="9613617" y="3771900"/>
            <a:ext cx="25783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TLDR: accuracy = 0.879</a:t>
            </a:r>
          </a:p>
          <a:p>
            <a:r>
              <a:rPr lang="en-US" dirty="0"/>
              <a:t>Helped smooth loss and accuracy curves showing best performance</a:t>
            </a:r>
          </a:p>
        </p:txBody>
      </p:sp>
      <p:pic>
        <p:nvPicPr>
          <p:cNvPr id="18" name="Picture 17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20820328-5F18-8E4A-E0A2-D7877A5159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7669" y="1680302"/>
            <a:ext cx="5285139" cy="205081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A615C6B-BDE5-81CA-E46B-18386CE686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3274" y="3771900"/>
            <a:ext cx="3263900" cy="2882900"/>
          </a:xfrm>
          <a:prstGeom prst="rect">
            <a:avLst/>
          </a:prstGeom>
        </p:spPr>
      </p:pic>
      <p:pic>
        <p:nvPicPr>
          <p:cNvPr id="21" name="Picture 20" descr="A graph of a line&#10;&#10;Description automatically generated with medium confidence">
            <a:extLst>
              <a:ext uri="{FF2B5EF4-FFF2-40B4-BE49-F238E27FC236}">
                <a16:creationId xmlns:a16="http://schemas.microsoft.com/office/drawing/2014/main" id="{E6DFCD98-13AF-F6C3-FD9B-FF296729EE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083" y="3794581"/>
            <a:ext cx="5554917" cy="2952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8567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01B44-EC36-D4F9-3CD5-56554883D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DFBE8-6B2A-DA63-17BA-096CD0679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8" y="-204450"/>
            <a:ext cx="12038376" cy="1325563"/>
          </a:xfrm>
        </p:spPr>
        <p:txBody>
          <a:bodyPr/>
          <a:lstStyle/>
          <a:p>
            <a:r>
              <a:rPr lang="en-US" dirty="0"/>
              <a:t>MLP Model 7: double descent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B10A02-ECEB-F04C-A63D-0F1A314D15AA}"/>
              </a:ext>
            </a:extLst>
          </p:cNvPr>
          <p:cNvSpPr/>
          <p:nvPr/>
        </p:nvSpPr>
        <p:spPr>
          <a:xfrm>
            <a:off x="363557" y="2192357"/>
            <a:ext cx="1225169" cy="297456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28BE8B-B43A-7F83-631C-2071A765CF77}"/>
              </a:ext>
            </a:extLst>
          </p:cNvPr>
          <p:cNvSpPr txBox="1"/>
          <p:nvPr/>
        </p:nvSpPr>
        <p:spPr>
          <a:xfrm>
            <a:off x="914400" y="650767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A1343E-F8FC-4BD6-EBA2-18B692B63165}"/>
              </a:ext>
            </a:extLst>
          </p:cNvPr>
          <p:cNvSpPr txBox="1"/>
          <p:nvPr/>
        </p:nvSpPr>
        <p:spPr>
          <a:xfrm>
            <a:off x="507434" y="1116299"/>
            <a:ext cx="1168456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Tried heavily overparameterizing the model to get double descent, trained up to (8192, 8192), yielded continuously increasing accuracies up to 0.86 but couldn’t train anything larger with laptop compute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57B26A-DC84-4D60-995E-08D24861F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504" y="2558842"/>
            <a:ext cx="5502853" cy="24167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907C948-6ADA-06AF-B6C0-AC37178FE6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580768"/>
            <a:ext cx="5638800" cy="311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8074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E4713-790E-278B-A881-384F73D35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BD6FA-EF3C-86BB-6A8C-D19D860EE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8" y="-204450"/>
            <a:ext cx="12038376" cy="1325563"/>
          </a:xfrm>
        </p:spPr>
        <p:txBody>
          <a:bodyPr/>
          <a:lstStyle/>
          <a:p>
            <a:r>
              <a:rPr lang="en-US" dirty="0"/>
              <a:t>Feature importance: from model 1 MLP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337981-BAD7-353D-9FDB-DB9FDBC2B439}"/>
              </a:ext>
            </a:extLst>
          </p:cNvPr>
          <p:cNvSpPr/>
          <p:nvPr/>
        </p:nvSpPr>
        <p:spPr>
          <a:xfrm>
            <a:off x="363557" y="2192357"/>
            <a:ext cx="1225169" cy="297456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706499-5073-2406-0269-04FB8869729B}"/>
              </a:ext>
            </a:extLst>
          </p:cNvPr>
          <p:cNvSpPr txBox="1"/>
          <p:nvPr/>
        </p:nvSpPr>
        <p:spPr>
          <a:xfrm>
            <a:off x="914400" y="650767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666458FF-9F1B-02D3-EFF9-B04CBF8A4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18" y="1200235"/>
            <a:ext cx="6083300" cy="51435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0282B2E-B5FC-BFA6-8A33-0D5FAB3F47DE}"/>
              </a:ext>
            </a:extLst>
          </p:cNvPr>
          <p:cNvSpPr txBox="1"/>
          <p:nvPr/>
        </p:nvSpPr>
        <p:spPr>
          <a:xfrm>
            <a:off x="7079938" y="1200235"/>
            <a:ext cx="434636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If we randomly shuffle a features values, how much does accuracy drop?</a:t>
            </a:r>
          </a:p>
        </p:txBody>
      </p:sp>
    </p:spTree>
    <p:extLst>
      <p:ext uri="{BB962C8B-B14F-4D97-AF65-F5344CB8AC3E}">
        <p14:creationId xmlns:p14="http://schemas.microsoft.com/office/powerpoint/2010/main" val="34796516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D1192-EC13-8364-30B2-76C1E7B7A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5B0CE6-938A-288D-8B7C-BD2FCC3C60F3}"/>
              </a:ext>
            </a:extLst>
          </p:cNvPr>
          <p:cNvSpPr txBox="1"/>
          <p:nvPr/>
        </p:nvSpPr>
        <p:spPr>
          <a:xfrm>
            <a:off x="525718" y="2493818"/>
            <a:ext cx="1100842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Experimented with a lot of MLP architectures and parameters, but couldn’t pass the high 80s for accuracy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Likely class imbalance holding the model back and this is near the limit of what MLPs can do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More advanced techniques can often overcomplicate things and lead to worse results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Hard to beat simple MLP model with regularization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242948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CA534-717C-BFE1-0274-9FE27C7CB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255CE-5866-E2DB-F0AC-EC702C4A4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Scores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609C90-DEDA-E4DD-8910-DB448862CECF}"/>
              </a:ext>
            </a:extLst>
          </p:cNvPr>
          <p:cNvSpPr txBox="1"/>
          <p:nvPr/>
        </p:nvSpPr>
        <p:spPr>
          <a:xfrm>
            <a:off x="525718" y="2493818"/>
            <a:ext cx="1100842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Trained best light regularization Model 6 on full </a:t>
            </a:r>
            <a:r>
              <a:rPr lang="en-US" sz="2800" dirty="0" err="1"/>
              <a:t>train.csv</a:t>
            </a:r>
            <a:r>
              <a:rPr lang="en-US" sz="2800" dirty="0"/>
              <a:t> and predicted </a:t>
            </a:r>
            <a:r>
              <a:rPr lang="en-US" sz="2800" dirty="0" err="1"/>
              <a:t>test.csv</a:t>
            </a:r>
            <a:r>
              <a:rPr lang="en-US" sz="2800" dirty="0"/>
              <a:t> for 40 epochs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pic>
        <p:nvPicPr>
          <p:cNvPr id="5" name="Picture 4" descr="A screenshot of a black background with white text&#10;&#10;Description automatically generated">
            <a:extLst>
              <a:ext uri="{FF2B5EF4-FFF2-40B4-BE49-F238E27FC236}">
                <a16:creationId xmlns:a16="http://schemas.microsoft.com/office/drawing/2014/main" id="{440A3799-BFA0-426A-C1DC-0D43C6E026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271" y="3188032"/>
            <a:ext cx="1130300" cy="288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457091"/>
      </p:ext>
    </p:extLst>
  </p:cSld>
  <p:clrMapOvr>
    <a:masterClrMapping/>
  </p:clrMapOvr>
</p:sld>
</file>

<file path=ppt/theme/theme1.xml><?xml version="1.0" encoding="utf-8"?>
<a:theme xmlns:a="http://schemas.openxmlformats.org/drawingml/2006/main" name="RocaVTI">
  <a:themeElements>
    <a:clrScheme name="Custom 101">
      <a:dk1>
        <a:sysClr val="windowText" lastClr="000000"/>
      </a:dk1>
      <a:lt1>
        <a:sysClr val="window" lastClr="FFFFFF"/>
      </a:lt1>
      <a:dk2>
        <a:srgbClr val="463443"/>
      </a:dk2>
      <a:lt2>
        <a:srgbClr val="F3F0E9"/>
      </a:lt2>
      <a:accent1>
        <a:srgbClr val="D45E5E"/>
      </a:accent1>
      <a:accent2>
        <a:srgbClr val="D49D8C"/>
      </a:accent2>
      <a:accent3>
        <a:srgbClr val="BF873A"/>
      </a:accent3>
      <a:accent4>
        <a:srgbClr val="C05050"/>
      </a:accent4>
      <a:accent5>
        <a:srgbClr val="A89F68"/>
      </a:accent5>
      <a:accent6>
        <a:srgbClr val="8F6B8A"/>
      </a:accent6>
      <a:hlink>
        <a:srgbClr val="D75681"/>
      </a:hlink>
      <a:folHlink>
        <a:srgbClr val="6C9D92"/>
      </a:folHlink>
    </a:clrScheme>
    <a:fontScheme name="Custom 36">
      <a:majorFont>
        <a:latin typeface="Georgia Pro Semibold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ocaVTI" id="{D79FE1D1-0489-4A69-8531-D0B8CDC31CBE}" vid="{CEBA7FE6-C04B-474E-964F-B022887AD13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13263</TotalTime>
  <Words>862</Words>
  <Application>Microsoft Macintosh PowerPoint</Application>
  <PresentationFormat>Widescreen</PresentationFormat>
  <Paragraphs>138</Paragraphs>
  <Slides>23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Arial</vt:lpstr>
      <vt:lpstr>Avenir Next LT Pro</vt:lpstr>
      <vt:lpstr>Avenir Next LT Pro Light</vt:lpstr>
      <vt:lpstr>Georgia Pro Semibold</vt:lpstr>
      <vt:lpstr>RocaVTI</vt:lpstr>
      <vt:lpstr>Neural Networks from Scratch Final Project - #3 Mystery Dataset</vt:lpstr>
      <vt:lpstr>Goal: Create the best MLP to classify mystery dataset</vt:lpstr>
      <vt:lpstr>Dataset Exploration</vt:lpstr>
      <vt:lpstr>Dataset Exploration: class imbalance</vt:lpstr>
      <vt:lpstr>Dataset Exploration: feature correlations</vt:lpstr>
      <vt:lpstr>Dataset Exploration: PCA</vt:lpstr>
      <vt:lpstr>Dataset Exploration: T-SNE</vt:lpstr>
      <vt:lpstr>Dataset Exploration: UMAP</vt:lpstr>
      <vt:lpstr>Baseline Model: XGBoost</vt:lpstr>
      <vt:lpstr>Baseline Model: XGBoost</vt:lpstr>
      <vt:lpstr>MLP Model 1: standard MLP</vt:lpstr>
      <vt:lpstr>MLP Model 1: standard MLP</vt:lpstr>
      <vt:lpstr>MLP Model 2: standard MLP with focal loss</vt:lpstr>
      <vt:lpstr>MLP Model 2: standard MLP with focal loss</vt:lpstr>
      <vt:lpstr>MLP Model 4: wide and deep NN</vt:lpstr>
      <vt:lpstr>MLP Model 4: wide and deep NN</vt:lpstr>
      <vt:lpstr>MLP Model 5: two-stage classifer</vt:lpstr>
      <vt:lpstr>MLP Model 5: two-stage classifer</vt:lpstr>
      <vt:lpstr>MLP Model 6: standard MLP + more regularization</vt:lpstr>
      <vt:lpstr>MLP Model 7: double descent</vt:lpstr>
      <vt:lpstr>Feature importance: from model 1 MLP</vt:lpstr>
      <vt:lpstr>Takeaways</vt:lpstr>
      <vt:lpstr>Final Scores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Edmund Tsou</dc:creator>
  <cp:lastModifiedBy>Edmund Tsou</cp:lastModifiedBy>
  <cp:revision>5</cp:revision>
  <dcterms:created xsi:type="dcterms:W3CDTF">2025-08-25T23:49:50Z</dcterms:created>
  <dcterms:modified xsi:type="dcterms:W3CDTF">2026-01-16T15:05:28Z</dcterms:modified>
</cp:coreProperties>
</file>